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68" r:id="rId2"/>
    <p:sldId id="270" r:id="rId3"/>
    <p:sldId id="269" r:id="rId4"/>
    <p:sldId id="271" r:id="rId5"/>
    <p:sldId id="27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id Rezaee" userId="3b67d9bbadffa4cf" providerId="LiveId" clId="{FD868AA2-DB4B-40A8-ABC5-ED5AA2B1AF03}"/>
    <pc:docChg chg="modSld">
      <pc:chgData name="Omid Rezaee" userId="3b67d9bbadffa4cf" providerId="LiveId" clId="{FD868AA2-DB4B-40A8-ABC5-ED5AA2B1AF03}" dt="2026-05-13T04:12:24.038" v="2" actId="1076"/>
      <pc:docMkLst>
        <pc:docMk/>
      </pc:docMkLst>
      <pc:sldChg chg="modSp mod">
        <pc:chgData name="Omid Rezaee" userId="3b67d9bbadffa4cf" providerId="LiveId" clId="{FD868AA2-DB4B-40A8-ABC5-ED5AA2B1AF03}" dt="2026-05-13T04:12:24.038" v="2" actId="1076"/>
        <pc:sldMkLst>
          <pc:docMk/>
          <pc:sldMk cId="2725019607" sldId="268"/>
        </pc:sldMkLst>
        <pc:picChg chg="mod">
          <ac:chgData name="Omid Rezaee" userId="3b67d9bbadffa4cf" providerId="LiveId" clId="{FD868AA2-DB4B-40A8-ABC5-ED5AA2B1AF03}" dt="2026-05-13T04:12:24.038" v="2" actId="1076"/>
          <ac:picMkLst>
            <pc:docMk/>
            <pc:sldMk cId="2725019607" sldId="268"/>
            <ac:picMk id="5" creationId="{4EF15BF4-2ADA-74E6-4BB9-3B6EA8F8935E}"/>
          </ac:picMkLst>
        </pc:picChg>
        <pc:picChg chg="mod">
          <ac:chgData name="Omid Rezaee" userId="3b67d9bbadffa4cf" providerId="LiveId" clId="{FD868AA2-DB4B-40A8-ABC5-ED5AA2B1AF03}" dt="2026-05-13T04:12:24.038" v="2" actId="1076"/>
          <ac:picMkLst>
            <pc:docMk/>
            <pc:sldMk cId="2725019607" sldId="268"/>
            <ac:picMk id="19" creationId="{DD25814E-4A1D-5698-2E86-A218386EBC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6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9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90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1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8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5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7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6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00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9677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96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32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30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58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00C3B-9E94-46AF-9DAF-8EB0D51BB3A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3B51D-3BE8-4216-9DFA-857992BD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499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A89D-2578-2E2E-854F-4CCFD574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3F4AA-8B9C-B985-AD62-D8439352AC60}"/>
              </a:ext>
            </a:extLst>
          </p:cNvPr>
          <p:cNvSpPr/>
          <p:nvPr/>
        </p:nvSpPr>
        <p:spPr>
          <a:xfrm>
            <a:off x="1524000" y="0"/>
            <a:ext cx="12188952" cy="164592"/>
          </a:xfrm>
          <a:prstGeom prst="rect">
            <a:avLst/>
          </a:prstGeom>
          <a:solidFill>
            <a:srgbClr val="3DE8FF"/>
          </a:solidFill>
          <a:ln>
            <a:solidFill>
              <a:srgbClr val="3D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B80D6-7C21-8793-A6E3-739552881735}"/>
              </a:ext>
            </a:extLst>
          </p:cNvPr>
          <p:cNvSpPr txBox="1"/>
          <p:nvPr/>
        </p:nvSpPr>
        <p:spPr>
          <a:xfrm>
            <a:off x="2255521" y="287030"/>
            <a:ext cx="63356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0F5FF"/>
                </a:solidFill>
              </a:rPr>
              <a:t>Autonomous AI Certificate Tracker</a:t>
            </a:r>
            <a:endParaRPr sz="2800" b="1" dirty="0">
              <a:solidFill>
                <a:srgbClr val="F0F5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15BF4-2ADA-74E6-4BB9-3B6EA8F89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556" y="1896599"/>
            <a:ext cx="6057090" cy="334676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C58215-9AD1-363A-347A-8962B73AF8DA}"/>
              </a:ext>
            </a:extLst>
          </p:cNvPr>
          <p:cNvCxnSpPr>
            <a:cxnSpLocks/>
          </p:cNvCxnSpPr>
          <p:nvPr/>
        </p:nvCxnSpPr>
        <p:spPr>
          <a:xfrm flipV="1">
            <a:off x="1942194" y="5199520"/>
            <a:ext cx="0" cy="557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6B11F-3A54-D1EC-B627-B1D5D98620FD}"/>
              </a:ext>
            </a:extLst>
          </p:cNvPr>
          <p:cNvSpPr/>
          <p:nvPr/>
        </p:nvSpPr>
        <p:spPr>
          <a:xfrm>
            <a:off x="1715473" y="5810606"/>
            <a:ext cx="1717104" cy="7855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Batch analysis (2 or more files)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9D34A8-D653-16B3-A0DE-D1F18F5DC9A3}"/>
              </a:ext>
            </a:extLst>
          </p:cNvPr>
          <p:cNvCxnSpPr/>
          <p:nvPr/>
        </p:nvCxnSpPr>
        <p:spPr>
          <a:xfrm flipH="1">
            <a:off x="7686646" y="2258384"/>
            <a:ext cx="5461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145BAF-3B11-237A-7B26-57451DECCF92}"/>
              </a:ext>
            </a:extLst>
          </p:cNvPr>
          <p:cNvCxnSpPr>
            <a:cxnSpLocks/>
          </p:cNvCxnSpPr>
          <p:nvPr/>
        </p:nvCxnSpPr>
        <p:spPr>
          <a:xfrm>
            <a:off x="5801590" y="1696560"/>
            <a:ext cx="0" cy="465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6799A1C-07D6-D10E-DB44-92FBF94E65F4}"/>
              </a:ext>
            </a:extLst>
          </p:cNvPr>
          <p:cNvSpPr/>
          <p:nvPr/>
        </p:nvSpPr>
        <p:spPr>
          <a:xfrm>
            <a:off x="4943038" y="843273"/>
            <a:ext cx="1717104" cy="7855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Performs analysis for selected file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25814E-4A1D-5698-2E86-A218386EB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160" y="2632854"/>
            <a:ext cx="2195700" cy="117501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D5CC453-92D5-E469-FA41-A4DCBE90C999}"/>
              </a:ext>
            </a:extLst>
          </p:cNvPr>
          <p:cNvSpPr/>
          <p:nvPr/>
        </p:nvSpPr>
        <p:spPr>
          <a:xfrm>
            <a:off x="8293101" y="1769180"/>
            <a:ext cx="1717104" cy="7855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Context Aware Chatbot Embedded</a:t>
            </a:r>
          </a:p>
        </p:txBody>
      </p:sp>
    </p:spTree>
    <p:extLst>
      <p:ext uri="{BB962C8B-B14F-4D97-AF65-F5344CB8AC3E}">
        <p14:creationId xmlns:p14="http://schemas.microsoft.com/office/powerpoint/2010/main" val="2725019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3CCF-89A0-2FB7-EC0E-866CFE3EB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72284B-909F-C2B3-232B-E3CA6CBC8870}"/>
              </a:ext>
            </a:extLst>
          </p:cNvPr>
          <p:cNvSpPr/>
          <p:nvPr/>
        </p:nvSpPr>
        <p:spPr>
          <a:xfrm>
            <a:off x="1524000" y="0"/>
            <a:ext cx="12188952" cy="164592"/>
          </a:xfrm>
          <a:prstGeom prst="rect">
            <a:avLst/>
          </a:prstGeom>
          <a:solidFill>
            <a:srgbClr val="3DE8FF"/>
          </a:solidFill>
          <a:ln>
            <a:solidFill>
              <a:srgbClr val="3D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3E2AE9-3D6D-A46D-0B31-4D132CEF663A}"/>
              </a:ext>
            </a:extLst>
          </p:cNvPr>
          <p:cNvSpPr txBox="1"/>
          <p:nvPr/>
        </p:nvSpPr>
        <p:spPr>
          <a:xfrm>
            <a:off x="2255520" y="287030"/>
            <a:ext cx="57759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0F5FF"/>
                </a:solidFill>
              </a:rPr>
              <a:t>Autonomous AI Certificate Tracker</a:t>
            </a:r>
            <a:endParaRPr sz="2800" b="1" dirty="0">
              <a:solidFill>
                <a:srgbClr val="F0F5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45B9D6-3716-6EF5-D2E5-71408D740544}"/>
              </a:ext>
            </a:extLst>
          </p:cNvPr>
          <p:cNvSpPr/>
          <p:nvPr/>
        </p:nvSpPr>
        <p:spPr>
          <a:xfrm>
            <a:off x="7311886" y="1190561"/>
            <a:ext cx="1846433" cy="4382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A01E7-82BD-7DBB-9C97-D566860C3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028" y="1892535"/>
            <a:ext cx="6989944" cy="396589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4FCCF3D-BC28-5D65-E764-E6EAE9180521}"/>
              </a:ext>
            </a:extLst>
          </p:cNvPr>
          <p:cNvCxnSpPr>
            <a:cxnSpLocks/>
          </p:cNvCxnSpPr>
          <p:nvPr/>
        </p:nvCxnSpPr>
        <p:spPr>
          <a:xfrm>
            <a:off x="8299152" y="1681515"/>
            <a:ext cx="0" cy="932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98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B161-A313-9CBD-8B4A-0536EB6D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263A1F-2F57-3C1D-2BA0-845C21F3CBDF}"/>
              </a:ext>
            </a:extLst>
          </p:cNvPr>
          <p:cNvSpPr/>
          <p:nvPr/>
        </p:nvSpPr>
        <p:spPr>
          <a:xfrm>
            <a:off x="1524000" y="0"/>
            <a:ext cx="12188952" cy="164592"/>
          </a:xfrm>
          <a:prstGeom prst="rect">
            <a:avLst/>
          </a:prstGeom>
          <a:solidFill>
            <a:srgbClr val="3DE8FF"/>
          </a:solidFill>
          <a:ln>
            <a:solidFill>
              <a:srgbClr val="3D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2DBFB-3307-73B5-79DE-ADFEAE9E9500}"/>
              </a:ext>
            </a:extLst>
          </p:cNvPr>
          <p:cNvSpPr txBox="1"/>
          <p:nvPr/>
        </p:nvSpPr>
        <p:spPr>
          <a:xfrm>
            <a:off x="2255520" y="287030"/>
            <a:ext cx="57759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0F5FF"/>
                </a:solidFill>
              </a:rPr>
              <a:t>Autonomous AI Certificate Tracker</a:t>
            </a:r>
            <a:endParaRPr sz="2800" b="1" dirty="0">
              <a:solidFill>
                <a:srgbClr val="F0F5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7D98EE-0814-1CE2-5B53-FBE392C31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728" y="1569807"/>
            <a:ext cx="7524545" cy="371838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0BF1C8-71FA-8C4C-36DD-88FFA44759C0}"/>
              </a:ext>
            </a:extLst>
          </p:cNvPr>
          <p:cNvCxnSpPr>
            <a:cxnSpLocks/>
          </p:cNvCxnSpPr>
          <p:nvPr/>
        </p:nvCxnSpPr>
        <p:spPr>
          <a:xfrm>
            <a:off x="4828727" y="1337888"/>
            <a:ext cx="0" cy="736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9A36E87-3759-C899-6423-3F151E62061F}"/>
              </a:ext>
            </a:extLst>
          </p:cNvPr>
          <p:cNvSpPr/>
          <p:nvPr/>
        </p:nvSpPr>
        <p:spPr>
          <a:xfrm>
            <a:off x="3776248" y="2074316"/>
            <a:ext cx="2104961" cy="282298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D9B307-1C6A-C4DC-9129-19E97EF8FC63}"/>
              </a:ext>
            </a:extLst>
          </p:cNvPr>
          <p:cNvSpPr/>
          <p:nvPr/>
        </p:nvSpPr>
        <p:spPr>
          <a:xfrm>
            <a:off x="3776248" y="810251"/>
            <a:ext cx="2104960" cy="4492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Autonomous Mode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0988C1-1764-0427-CED0-E497DF2F6B0E}"/>
              </a:ext>
            </a:extLst>
          </p:cNvPr>
          <p:cNvCxnSpPr/>
          <p:nvPr/>
        </p:nvCxnSpPr>
        <p:spPr>
          <a:xfrm flipV="1">
            <a:off x="4291748" y="4111732"/>
            <a:ext cx="0" cy="1534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A24379-ECF4-BCB5-D270-41A0FF20A75F}"/>
              </a:ext>
            </a:extLst>
          </p:cNvPr>
          <p:cNvCxnSpPr>
            <a:cxnSpLocks/>
          </p:cNvCxnSpPr>
          <p:nvPr/>
        </p:nvCxnSpPr>
        <p:spPr>
          <a:xfrm flipV="1">
            <a:off x="4396076" y="4688602"/>
            <a:ext cx="975769" cy="957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0985429-2451-FDF1-A4A2-E1F3DCF09A00}"/>
              </a:ext>
            </a:extLst>
          </p:cNvPr>
          <p:cNvSpPr/>
          <p:nvPr/>
        </p:nvSpPr>
        <p:spPr>
          <a:xfrm>
            <a:off x="3510827" y="5645960"/>
            <a:ext cx="1561843" cy="4492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Tracked Emails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95A432-A5A2-8739-A2BC-86108EA9F854}"/>
              </a:ext>
            </a:extLst>
          </p:cNvPr>
          <p:cNvCxnSpPr>
            <a:cxnSpLocks/>
          </p:cNvCxnSpPr>
          <p:nvPr/>
        </p:nvCxnSpPr>
        <p:spPr>
          <a:xfrm>
            <a:off x="6711736" y="1632420"/>
            <a:ext cx="0" cy="496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319DA58-AFDB-F629-4D68-913084F9DDE9}"/>
              </a:ext>
            </a:extLst>
          </p:cNvPr>
          <p:cNvSpPr/>
          <p:nvPr/>
        </p:nvSpPr>
        <p:spPr>
          <a:xfrm>
            <a:off x="5992590" y="1120581"/>
            <a:ext cx="1510698" cy="4492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 Inbox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C3FF4D-7422-C111-456B-63B330315CDB}"/>
              </a:ext>
            </a:extLst>
          </p:cNvPr>
          <p:cNvCxnSpPr>
            <a:cxnSpLocks/>
          </p:cNvCxnSpPr>
          <p:nvPr/>
        </p:nvCxnSpPr>
        <p:spPr>
          <a:xfrm flipV="1">
            <a:off x="4346980" y="3080731"/>
            <a:ext cx="147286" cy="2491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377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F7E5F-FC28-EAF2-A9B1-009006999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943E89-DB7D-358B-8632-47A70DAE4A7C}"/>
              </a:ext>
            </a:extLst>
          </p:cNvPr>
          <p:cNvSpPr/>
          <p:nvPr/>
        </p:nvSpPr>
        <p:spPr>
          <a:xfrm>
            <a:off x="1524000" y="0"/>
            <a:ext cx="12188952" cy="164592"/>
          </a:xfrm>
          <a:prstGeom prst="rect">
            <a:avLst/>
          </a:prstGeom>
          <a:solidFill>
            <a:srgbClr val="3DE8FF"/>
          </a:solidFill>
          <a:ln>
            <a:solidFill>
              <a:srgbClr val="3D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CC88C-3A54-8CB7-F701-C0A989C078E5}"/>
              </a:ext>
            </a:extLst>
          </p:cNvPr>
          <p:cNvSpPr txBox="1"/>
          <p:nvPr/>
        </p:nvSpPr>
        <p:spPr>
          <a:xfrm>
            <a:off x="1832074" y="401755"/>
            <a:ext cx="3740319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0F5FF"/>
                </a:solidFill>
              </a:rPr>
              <a:t>Other disclosed features:</a:t>
            </a:r>
          </a:p>
          <a:p>
            <a:endParaRPr lang="en-US" sz="2400" b="1" dirty="0">
              <a:solidFill>
                <a:srgbClr val="F0F5FF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00" b="1" dirty="0">
                <a:solidFill>
                  <a:srgbClr val="F0F5FF"/>
                </a:solidFill>
              </a:rPr>
              <a:t>Batch COI upload </a:t>
            </a:r>
          </a:p>
          <a:p>
            <a:pPr marL="171450" indent="-171450">
              <a:buFontTx/>
              <a:buChar char="-"/>
            </a:pPr>
            <a:r>
              <a:rPr lang="en-US" sz="1000" b="1" dirty="0">
                <a:solidFill>
                  <a:srgbClr val="F0F5FF"/>
                </a:solidFill>
              </a:rPr>
              <a:t>rent-roll updates/imports</a:t>
            </a:r>
          </a:p>
          <a:p>
            <a:pPr marL="171450" indent="-171450">
              <a:buFontTx/>
              <a:buChar char="-"/>
            </a:pPr>
            <a:r>
              <a:rPr lang="en-US" sz="1000" b="1" dirty="0">
                <a:solidFill>
                  <a:srgbClr val="F0F5FF"/>
                </a:solidFill>
              </a:rPr>
              <a:t>Property &amp; Tenant Management Interface</a:t>
            </a:r>
          </a:p>
          <a:p>
            <a:pPr marL="171450" indent="-171450">
              <a:buFontTx/>
              <a:buChar char="-"/>
            </a:pPr>
            <a:r>
              <a:rPr lang="en-US" sz="1000" b="1" dirty="0">
                <a:solidFill>
                  <a:srgbClr val="F0F5FF"/>
                </a:solidFill>
              </a:rPr>
              <a:t>Reporting </a:t>
            </a:r>
            <a:endParaRPr sz="1000" b="1" dirty="0">
              <a:solidFill>
                <a:srgbClr val="F0F5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5439D9-2218-818E-9F4C-B6B40FB45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1" y="403160"/>
            <a:ext cx="4379169" cy="2125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A56A37-DDF7-DF26-626B-5D78ACEF9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074" y="2918419"/>
            <a:ext cx="5283111" cy="2075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F62475-C1E8-43BE-3A36-3088E795D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972" y="4323084"/>
            <a:ext cx="4379169" cy="1918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231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22E47-3A16-6ACE-24FD-F4BB952E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E4560B-8B3B-8026-7685-08E418445EBD}"/>
              </a:ext>
            </a:extLst>
          </p:cNvPr>
          <p:cNvSpPr/>
          <p:nvPr/>
        </p:nvSpPr>
        <p:spPr>
          <a:xfrm>
            <a:off x="1524000" y="0"/>
            <a:ext cx="12188952" cy="164592"/>
          </a:xfrm>
          <a:prstGeom prst="rect">
            <a:avLst/>
          </a:prstGeom>
          <a:solidFill>
            <a:srgbClr val="3DE8FF"/>
          </a:solidFill>
          <a:ln>
            <a:solidFill>
              <a:srgbClr val="3D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AC1507-AC76-8B45-7F90-0EC7CCDF011F}"/>
              </a:ext>
            </a:extLst>
          </p:cNvPr>
          <p:cNvSpPr txBox="1"/>
          <p:nvPr/>
        </p:nvSpPr>
        <p:spPr>
          <a:xfrm>
            <a:off x="1832074" y="401755"/>
            <a:ext cx="3740319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0F5FF"/>
                </a:solidFill>
              </a:rPr>
              <a:t>Other disclosed features:</a:t>
            </a:r>
          </a:p>
          <a:p>
            <a:endParaRPr lang="en-US" sz="2400" b="1" dirty="0">
              <a:solidFill>
                <a:srgbClr val="F0F5FF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00" b="1" dirty="0">
                <a:solidFill>
                  <a:srgbClr val="F0F5FF"/>
                </a:solidFill>
              </a:rPr>
              <a:t>Batch COI upload </a:t>
            </a:r>
          </a:p>
          <a:p>
            <a:pPr marL="171450" indent="-171450">
              <a:buFontTx/>
              <a:buChar char="-"/>
            </a:pPr>
            <a:r>
              <a:rPr lang="en-US" sz="1000" b="1" dirty="0">
                <a:solidFill>
                  <a:srgbClr val="F0F5FF"/>
                </a:solidFill>
              </a:rPr>
              <a:t>rent-roll updates/imports</a:t>
            </a:r>
          </a:p>
          <a:p>
            <a:pPr marL="171450" indent="-171450">
              <a:buFontTx/>
              <a:buChar char="-"/>
            </a:pPr>
            <a:r>
              <a:rPr lang="en-US" sz="1000" b="1" dirty="0">
                <a:solidFill>
                  <a:srgbClr val="F0F5FF"/>
                </a:solidFill>
              </a:rPr>
              <a:t>Property &amp; Tenant Management Interface</a:t>
            </a:r>
          </a:p>
          <a:p>
            <a:pPr marL="171450" indent="-171450">
              <a:buFontTx/>
              <a:buChar char="-"/>
            </a:pPr>
            <a:r>
              <a:rPr lang="en-US" sz="1000" b="1" dirty="0">
                <a:solidFill>
                  <a:srgbClr val="F0F5FF"/>
                </a:solidFill>
              </a:rPr>
              <a:t>Reporting </a:t>
            </a:r>
            <a:endParaRPr sz="1000" b="1" dirty="0">
              <a:solidFill>
                <a:srgbClr val="F0F5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C00511-7C72-2639-684F-C622D722A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468" y="439814"/>
            <a:ext cx="4782187" cy="2314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5F0E5D-6E63-EDFF-C055-1DAEDFCCE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158" y="3275815"/>
            <a:ext cx="6086931" cy="309319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8C299A-AADB-32DD-EC63-9D7891C7EA01}"/>
              </a:ext>
            </a:extLst>
          </p:cNvPr>
          <p:cNvCxnSpPr>
            <a:cxnSpLocks/>
          </p:cNvCxnSpPr>
          <p:nvPr/>
        </p:nvCxnSpPr>
        <p:spPr>
          <a:xfrm flipH="1">
            <a:off x="7486966" y="4907309"/>
            <a:ext cx="9656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7B9BBC8-A780-58A5-E761-CC1D0B4B83DB}"/>
              </a:ext>
            </a:extLst>
          </p:cNvPr>
          <p:cNvSpPr/>
          <p:nvPr/>
        </p:nvSpPr>
        <p:spPr>
          <a:xfrm>
            <a:off x="8627845" y="4627702"/>
            <a:ext cx="917101" cy="5592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Flexible</a:t>
            </a:r>
          </a:p>
        </p:txBody>
      </p:sp>
    </p:spTree>
    <p:extLst>
      <p:ext uri="{BB962C8B-B14F-4D97-AF65-F5344CB8AC3E}">
        <p14:creationId xmlns:p14="http://schemas.microsoft.com/office/powerpoint/2010/main" val="35462999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</TotalTime>
  <Words>72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Omid Rezaee</dc:creator>
  <cp:lastModifiedBy>Omid Rezaee</cp:lastModifiedBy>
  <cp:revision>1</cp:revision>
  <dcterms:created xsi:type="dcterms:W3CDTF">2026-05-10T18:23:18Z</dcterms:created>
  <dcterms:modified xsi:type="dcterms:W3CDTF">2026-05-13T04:12:34Z</dcterms:modified>
</cp:coreProperties>
</file>